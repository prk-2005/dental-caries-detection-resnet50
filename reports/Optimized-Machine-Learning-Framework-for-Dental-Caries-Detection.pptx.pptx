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BM Plex Sans Medium" charset="1" panose="020B0603050203000203"/>
      <p:regular r:id="rId17"/>
    </p:embeddedFont>
    <p:embeddedFont>
      <p:font typeface="Arimo" charset="1" panose="020B0604020202020204"/>
      <p:regular r:id="rId18"/>
    </p:embeddedFont>
    <p:embeddedFont>
      <p:font typeface="IBM Plex Sans Bold" charset="1" panose="020B0803050203000203"/>
      <p:regular r:id="rId20"/>
    </p:embeddedFont>
    <p:embeddedFont>
      <p:font typeface="IBM Plex Sans" charset="1" panose="020B05030502030002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7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98B1E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15842" y="3271327"/>
            <a:ext cx="17683475" cy="383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2"/>
              </a:lnSpc>
            </a:pPr>
            <a:r>
              <a:rPr lang="en-US" b="true" sz="8132">
                <a:solidFill>
                  <a:srgbClr val="22242A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Optimized Machine Learning Framework for Dental Caries Detection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85996" y="318418"/>
            <a:ext cx="17586148" cy="9781588"/>
            <a:chOff x="0" y="0"/>
            <a:chExt cx="23448197" cy="1304211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84732" cy="5486400"/>
            </a:xfrm>
            <a:custGeom>
              <a:avLst/>
              <a:gdLst/>
              <a:ahLst/>
              <a:cxnLst/>
              <a:rect r="r" b="b" t="t" l="l"/>
              <a:pathLst>
                <a:path h="5486400" w="6084732">
                  <a:moveTo>
                    <a:pt x="0" y="0"/>
                  </a:moveTo>
                  <a:lnTo>
                    <a:pt x="6084732" y="0"/>
                  </a:lnTo>
                  <a:lnTo>
                    <a:pt x="6084732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10800000">
              <a:off x="17363465" y="7555718"/>
              <a:ext cx="6084732" cy="5486400"/>
            </a:xfrm>
            <a:custGeom>
              <a:avLst/>
              <a:gdLst/>
              <a:ahLst/>
              <a:cxnLst/>
              <a:rect r="r" b="b" t="t" l="l"/>
              <a:pathLst>
                <a:path h="5486400" w="6084732">
                  <a:moveTo>
                    <a:pt x="0" y="0"/>
                  </a:moveTo>
                  <a:lnTo>
                    <a:pt x="6084732" y="0"/>
                  </a:lnTo>
                  <a:lnTo>
                    <a:pt x="6084732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157579" y="8256627"/>
            <a:ext cx="7814564" cy="1125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</a:pPr>
            <a:r>
              <a:rPr lang="en-US" sz="2773">
                <a:solidFill>
                  <a:srgbClr val="07144E"/>
                </a:solidFill>
                <a:latin typeface="Arimo"/>
                <a:ea typeface="Arimo"/>
                <a:cs typeface="Arimo"/>
                <a:sym typeface="Arimo"/>
              </a:rPr>
              <a:t>Pratham K [RA2311003012072] - Ctech</a:t>
            </a:r>
          </a:p>
          <a:p>
            <a:pPr algn="l">
              <a:lnSpc>
                <a:spcPts val="4516"/>
              </a:lnSpc>
            </a:pPr>
            <a:r>
              <a:rPr lang="en-US" sz="2773">
                <a:solidFill>
                  <a:srgbClr val="07144E"/>
                </a:solidFill>
                <a:latin typeface="Arimo"/>
                <a:ea typeface="Arimo"/>
                <a:cs typeface="Arimo"/>
                <a:sym typeface="Arimo"/>
              </a:rPr>
              <a:t>Kaushika R [RA2311003012077] - Ctech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7683" y="2185318"/>
            <a:ext cx="6963723" cy="693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b="true" sz="4437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21CSP302L- </a:t>
            </a:r>
            <a:r>
              <a:rPr lang="en-US" b="true" sz="4437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Minor Project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3664" y="8256627"/>
            <a:ext cx="6708911" cy="1125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</a:pPr>
            <a:r>
              <a:rPr lang="en-US" sz="2773">
                <a:solidFill>
                  <a:srgbClr val="07144E"/>
                </a:solidFill>
                <a:latin typeface="Arimo"/>
                <a:ea typeface="Arimo"/>
                <a:cs typeface="Arimo"/>
                <a:sym typeface="Arimo"/>
              </a:rPr>
              <a:t>Faculty Guide-</a:t>
            </a:r>
          </a:p>
          <a:p>
            <a:pPr algn="l">
              <a:lnSpc>
                <a:spcPts val="4516"/>
              </a:lnSpc>
            </a:pPr>
            <a:r>
              <a:rPr lang="en-US" sz="2773">
                <a:solidFill>
                  <a:srgbClr val="07144E"/>
                </a:solidFill>
                <a:latin typeface="Arimo"/>
                <a:ea typeface="Arimo"/>
                <a:cs typeface="Arimo"/>
                <a:sym typeface="Arimo"/>
              </a:rPr>
              <a:t>Dr. Aswathy K Cherian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98B1E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933494" y="1740840"/>
            <a:ext cx="8783354" cy="73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 b="true">
                <a:solidFill>
                  <a:srgbClr val="0714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Problem Statement: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7732" y="3521351"/>
            <a:ext cx="10161742" cy="4429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4324" indent="-372162" lvl="1">
              <a:lnSpc>
                <a:spcPts val="4378"/>
              </a:lnSpc>
              <a:buFont typeface="Arial"/>
              <a:buChar char="•"/>
            </a:pPr>
            <a:r>
              <a:rPr lang="en-US" b="true" sz="3447">
                <a:solidFill>
                  <a:srgbClr val="07144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 Widespread Problem with the early detection necessity.</a:t>
            </a:r>
          </a:p>
          <a:p>
            <a:pPr algn="l">
              <a:lnSpc>
                <a:spcPts val="4378"/>
              </a:lnSpc>
            </a:pPr>
          </a:p>
          <a:p>
            <a:pPr algn="l" marL="744324" indent="-372162" lvl="1">
              <a:lnSpc>
                <a:spcPts val="4378"/>
              </a:lnSpc>
              <a:buFont typeface="Arial"/>
              <a:buChar char="•"/>
            </a:pPr>
            <a:r>
              <a:rPr lang="en-US" b="true" sz="3447">
                <a:solidFill>
                  <a:srgbClr val="07144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Limitations of Manual Diagnosis: time consuming, dependent on expertise, detection difficulty in early stage.</a:t>
            </a:r>
          </a:p>
          <a:p>
            <a:pPr algn="l">
              <a:lnSpc>
                <a:spcPts val="4378"/>
              </a:lnSpc>
            </a:pPr>
          </a:p>
          <a:p>
            <a:pPr algn="l" marL="744325" indent="-372163" lvl="1">
              <a:lnSpc>
                <a:spcPts val="4379"/>
              </a:lnSpc>
              <a:buFont typeface="Arial"/>
              <a:buChar char="•"/>
            </a:pPr>
            <a:r>
              <a:rPr lang="en-US" b="true" sz="3447">
                <a:solidFill>
                  <a:srgbClr val="07144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The Need for Innovation : An automated assist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85996" y="318418"/>
            <a:ext cx="4563549" cy="4114800"/>
          </a:xfrm>
          <a:custGeom>
            <a:avLst/>
            <a:gdLst/>
            <a:ahLst/>
            <a:cxnLst/>
            <a:rect r="r" b="b" t="t" l="l"/>
            <a:pathLst>
              <a:path h="4114800" w="4563549">
                <a:moveTo>
                  <a:pt x="0" y="0"/>
                </a:moveTo>
                <a:lnTo>
                  <a:pt x="4563549" y="0"/>
                </a:lnTo>
                <a:lnTo>
                  <a:pt x="45635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3408595" y="5985206"/>
            <a:ext cx="4563549" cy="4114800"/>
          </a:xfrm>
          <a:custGeom>
            <a:avLst/>
            <a:gdLst/>
            <a:ahLst/>
            <a:cxnLst/>
            <a:rect r="r" b="b" t="t" l="l"/>
            <a:pathLst>
              <a:path h="4114800" w="4563549">
                <a:moveTo>
                  <a:pt x="0" y="0"/>
                </a:moveTo>
                <a:lnTo>
                  <a:pt x="4563549" y="0"/>
                </a:lnTo>
                <a:lnTo>
                  <a:pt x="45635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596136" y="2471068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98B1E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06572" y="2189998"/>
            <a:ext cx="6452416" cy="86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b="true" sz="5562">
                <a:solidFill>
                  <a:srgbClr val="0714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Project Objectives: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06572" y="4514815"/>
            <a:ext cx="637880" cy="637880"/>
            <a:chOff x="0" y="0"/>
            <a:chExt cx="850506" cy="85050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850506" cy="850506"/>
              <a:chOff x="0" y="0"/>
              <a:chExt cx="850506" cy="85050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50392" cy="850392"/>
              </a:xfrm>
              <a:custGeom>
                <a:avLst/>
                <a:gdLst/>
                <a:ahLst/>
                <a:cxnLst/>
                <a:rect r="r" b="b" t="t" l="l"/>
                <a:pathLst>
                  <a:path h="850392" w="850392">
                    <a:moveTo>
                      <a:pt x="0" y="56642"/>
                    </a:moveTo>
                    <a:cubicBezTo>
                      <a:pt x="0" y="25400"/>
                      <a:pt x="25400" y="0"/>
                      <a:pt x="56642" y="0"/>
                    </a:cubicBezTo>
                    <a:lnTo>
                      <a:pt x="793750" y="0"/>
                    </a:lnTo>
                    <a:cubicBezTo>
                      <a:pt x="825119" y="0"/>
                      <a:pt x="850392" y="25400"/>
                      <a:pt x="850392" y="56642"/>
                    </a:cubicBezTo>
                    <a:lnTo>
                      <a:pt x="850392" y="793750"/>
                    </a:lnTo>
                    <a:cubicBezTo>
                      <a:pt x="850392" y="825119"/>
                      <a:pt x="824992" y="850392"/>
                      <a:pt x="793750" y="850392"/>
                    </a:cubicBezTo>
                    <a:lnTo>
                      <a:pt x="56642" y="850392"/>
                    </a:lnTo>
                    <a:cubicBezTo>
                      <a:pt x="25400" y="850519"/>
                      <a:pt x="0" y="825119"/>
                      <a:pt x="0" y="793750"/>
                    </a:cubicBezTo>
                    <a:close/>
                  </a:path>
                </a:pathLst>
              </a:custGeom>
              <a:solidFill>
                <a:srgbClr val="484B51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141783" y="127997"/>
              <a:ext cx="566941" cy="651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12"/>
                </a:lnSpc>
              </a:pPr>
              <a:r>
                <a:rPr lang="en-US" b="true" sz="3312">
                  <a:solidFill>
                    <a:srgbClr val="A6A6A6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406918" y="4453000"/>
            <a:ext cx="6066533" cy="849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4545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Develop an automated carries detection system.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27445" y="4514815"/>
            <a:ext cx="637880" cy="637880"/>
            <a:chOff x="0" y="0"/>
            <a:chExt cx="850506" cy="85050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50506" cy="850506"/>
              <a:chOff x="0" y="0"/>
              <a:chExt cx="850506" cy="85050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50392" cy="850392"/>
              </a:xfrm>
              <a:custGeom>
                <a:avLst/>
                <a:gdLst/>
                <a:ahLst/>
                <a:cxnLst/>
                <a:rect r="r" b="b" t="t" l="l"/>
                <a:pathLst>
                  <a:path h="850392" w="850392">
                    <a:moveTo>
                      <a:pt x="0" y="56642"/>
                    </a:moveTo>
                    <a:cubicBezTo>
                      <a:pt x="0" y="25400"/>
                      <a:pt x="25400" y="0"/>
                      <a:pt x="56642" y="0"/>
                    </a:cubicBezTo>
                    <a:lnTo>
                      <a:pt x="793750" y="0"/>
                    </a:lnTo>
                    <a:cubicBezTo>
                      <a:pt x="825119" y="0"/>
                      <a:pt x="850392" y="25400"/>
                      <a:pt x="850392" y="56642"/>
                    </a:cubicBezTo>
                    <a:lnTo>
                      <a:pt x="850392" y="793750"/>
                    </a:lnTo>
                    <a:cubicBezTo>
                      <a:pt x="850392" y="825119"/>
                      <a:pt x="824992" y="850392"/>
                      <a:pt x="793750" y="850392"/>
                    </a:cubicBezTo>
                    <a:lnTo>
                      <a:pt x="56642" y="850392"/>
                    </a:lnTo>
                    <a:cubicBezTo>
                      <a:pt x="25400" y="850519"/>
                      <a:pt x="0" y="825119"/>
                      <a:pt x="0" y="793750"/>
                    </a:cubicBezTo>
                    <a:close/>
                  </a:path>
                </a:pathLst>
              </a:custGeom>
              <a:solidFill>
                <a:srgbClr val="484B51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141783" y="127991"/>
              <a:ext cx="566941" cy="651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12"/>
                </a:lnSpc>
              </a:pPr>
              <a:r>
                <a:rPr lang="en-US" b="true" sz="3312">
                  <a:solidFill>
                    <a:srgbClr val="A6A6A6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2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593198" y="4453000"/>
            <a:ext cx="6235017" cy="849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4545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Implement transfer learning using Resnet-50.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06572" y="7009505"/>
            <a:ext cx="637880" cy="637880"/>
            <a:chOff x="0" y="0"/>
            <a:chExt cx="850506" cy="85050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850506" cy="850506"/>
              <a:chOff x="0" y="0"/>
              <a:chExt cx="850506" cy="85050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50392" cy="850392"/>
              </a:xfrm>
              <a:custGeom>
                <a:avLst/>
                <a:gdLst/>
                <a:ahLst/>
                <a:cxnLst/>
                <a:rect r="r" b="b" t="t" l="l"/>
                <a:pathLst>
                  <a:path h="850392" w="850392">
                    <a:moveTo>
                      <a:pt x="0" y="56642"/>
                    </a:moveTo>
                    <a:cubicBezTo>
                      <a:pt x="0" y="25400"/>
                      <a:pt x="25400" y="0"/>
                      <a:pt x="56642" y="0"/>
                    </a:cubicBezTo>
                    <a:lnTo>
                      <a:pt x="793750" y="0"/>
                    </a:lnTo>
                    <a:cubicBezTo>
                      <a:pt x="825119" y="0"/>
                      <a:pt x="850392" y="25400"/>
                      <a:pt x="850392" y="56642"/>
                    </a:cubicBezTo>
                    <a:lnTo>
                      <a:pt x="850392" y="793750"/>
                    </a:lnTo>
                    <a:cubicBezTo>
                      <a:pt x="850392" y="825119"/>
                      <a:pt x="824992" y="850392"/>
                      <a:pt x="793750" y="850392"/>
                    </a:cubicBezTo>
                    <a:lnTo>
                      <a:pt x="56642" y="850392"/>
                    </a:lnTo>
                    <a:cubicBezTo>
                      <a:pt x="25400" y="850519"/>
                      <a:pt x="0" y="825119"/>
                      <a:pt x="0" y="793750"/>
                    </a:cubicBezTo>
                    <a:close/>
                  </a:path>
                </a:pathLst>
              </a:custGeom>
              <a:solidFill>
                <a:srgbClr val="484B51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141783" y="127991"/>
              <a:ext cx="566941" cy="651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12"/>
                </a:lnSpc>
              </a:pPr>
              <a:r>
                <a:rPr lang="en-US" b="true" sz="3312">
                  <a:solidFill>
                    <a:srgbClr val="A6A6A6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3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406918" y="7113338"/>
            <a:ext cx="6485126" cy="420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4545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Achieve high classification accuracy.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427445" y="7091409"/>
            <a:ext cx="637880" cy="637880"/>
            <a:chOff x="0" y="0"/>
            <a:chExt cx="850506" cy="850506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850506" cy="850506"/>
              <a:chOff x="0" y="0"/>
              <a:chExt cx="850506" cy="85050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50392" cy="850392"/>
              </a:xfrm>
              <a:custGeom>
                <a:avLst/>
                <a:gdLst/>
                <a:ahLst/>
                <a:cxnLst/>
                <a:rect r="r" b="b" t="t" l="l"/>
                <a:pathLst>
                  <a:path h="850392" w="850392">
                    <a:moveTo>
                      <a:pt x="0" y="56642"/>
                    </a:moveTo>
                    <a:cubicBezTo>
                      <a:pt x="0" y="25400"/>
                      <a:pt x="25400" y="0"/>
                      <a:pt x="56642" y="0"/>
                    </a:cubicBezTo>
                    <a:lnTo>
                      <a:pt x="793750" y="0"/>
                    </a:lnTo>
                    <a:cubicBezTo>
                      <a:pt x="825119" y="0"/>
                      <a:pt x="850392" y="25400"/>
                      <a:pt x="850392" y="56642"/>
                    </a:cubicBezTo>
                    <a:lnTo>
                      <a:pt x="850392" y="793750"/>
                    </a:lnTo>
                    <a:cubicBezTo>
                      <a:pt x="850392" y="825119"/>
                      <a:pt x="824992" y="850392"/>
                      <a:pt x="793750" y="850392"/>
                    </a:cubicBezTo>
                    <a:lnTo>
                      <a:pt x="56642" y="850392"/>
                    </a:lnTo>
                    <a:cubicBezTo>
                      <a:pt x="25400" y="850519"/>
                      <a:pt x="0" y="825119"/>
                      <a:pt x="0" y="793750"/>
                    </a:cubicBezTo>
                    <a:close/>
                  </a:path>
                </a:pathLst>
              </a:custGeom>
              <a:solidFill>
                <a:srgbClr val="484B51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141783" y="127991"/>
              <a:ext cx="566941" cy="651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12"/>
                </a:lnSpc>
              </a:pPr>
              <a:r>
                <a:rPr lang="en-US" b="true" sz="3312">
                  <a:solidFill>
                    <a:srgbClr val="A6A6A6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4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616577" y="7141913"/>
            <a:ext cx="5860938" cy="420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4545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Ensure model generalization.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265423" y="237373"/>
            <a:ext cx="4563549" cy="4114800"/>
          </a:xfrm>
          <a:custGeom>
            <a:avLst/>
            <a:gdLst/>
            <a:ahLst/>
            <a:cxnLst/>
            <a:rect r="r" b="b" t="t" l="l"/>
            <a:pathLst>
              <a:path h="4114800" w="4563549">
                <a:moveTo>
                  <a:pt x="0" y="0"/>
                </a:moveTo>
                <a:lnTo>
                  <a:pt x="4563549" y="0"/>
                </a:lnTo>
                <a:lnTo>
                  <a:pt x="45635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10800000">
            <a:off x="13408595" y="5985206"/>
            <a:ext cx="4563549" cy="4114800"/>
          </a:xfrm>
          <a:custGeom>
            <a:avLst/>
            <a:gdLst/>
            <a:ahLst/>
            <a:cxnLst/>
            <a:rect r="r" b="b" t="t" l="l"/>
            <a:pathLst>
              <a:path h="4114800" w="4563549">
                <a:moveTo>
                  <a:pt x="0" y="0"/>
                </a:moveTo>
                <a:lnTo>
                  <a:pt x="4563549" y="0"/>
                </a:lnTo>
                <a:lnTo>
                  <a:pt x="45635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98B1E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16097" y="1261288"/>
            <a:ext cx="5960622" cy="86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714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Literature review: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7824" y="2751455"/>
            <a:ext cx="5097605" cy="347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49"/>
              </a:lnSpc>
            </a:pPr>
            <a:r>
              <a:rPr lang="en-US" b="true" sz="3249" u="sng">
                <a:solidFill>
                  <a:srgbClr val="292C32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Existing Research:</a:t>
            </a:r>
          </a:p>
          <a:p>
            <a:pPr algn="just" marL="593726" indent="-296863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545454"/>
                </a:solidFill>
                <a:latin typeface="IBM Plex Sans"/>
                <a:ea typeface="IBM Plex Sans"/>
                <a:cs typeface="IBM Plex Sans"/>
                <a:sym typeface="IBM Plex Sans"/>
              </a:rPr>
              <a:t>D</a:t>
            </a:r>
            <a:r>
              <a:rPr lang="en-US" b="true" sz="2750">
                <a:solidFill>
                  <a:srgbClr val="54545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eep learning model was proposed for radiographs. [1]</a:t>
            </a:r>
          </a:p>
          <a:p>
            <a:pPr algn="just" marL="593726" indent="-296863" lvl="1">
              <a:lnSpc>
                <a:spcPts val="3850"/>
              </a:lnSpc>
              <a:buFont typeface="Arial"/>
              <a:buChar char="•"/>
            </a:pPr>
            <a:r>
              <a:rPr lang="en-US" b="true" sz="2750">
                <a:solidFill>
                  <a:srgbClr val="54545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CNN-b</a:t>
            </a:r>
            <a:r>
              <a:rPr lang="en-US" b="true" sz="2750">
                <a:solidFill>
                  <a:srgbClr val="54545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ased architectures- ResNet and VGG improve diagnostic accuracy. [1], [2]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20363" y="408173"/>
            <a:ext cx="4563549" cy="4114800"/>
          </a:xfrm>
          <a:custGeom>
            <a:avLst/>
            <a:gdLst/>
            <a:ahLst/>
            <a:cxnLst/>
            <a:rect r="r" b="b" t="t" l="l"/>
            <a:pathLst>
              <a:path h="4114800" w="4563549">
                <a:moveTo>
                  <a:pt x="0" y="0"/>
                </a:moveTo>
                <a:lnTo>
                  <a:pt x="4563549" y="0"/>
                </a:lnTo>
                <a:lnTo>
                  <a:pt x="45635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3408595" y="5985206"/>
            <a:ext cx="4563549" cy="4114800"/>
          </a:xfrm>
          <a:custGeom>
            <a:avLst/>
            <a:gdLst/>
            <a:ahLst/>
            <a:cxnLst/>
            <a:rect r="r" b="b" t="t" l="l"/>
            <a:pathLst>
              <a:path h="4114800" w="4563549">
                <a:moveTo>
                  <a:pt x="0" y="0"/>
                </a:moveTo>
                <a:lnTo>
                  <a:pt x="4563549" y="0"/>
                </a:lnTo>
                <a:lnTo>
                  <a:pt x="45635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838817" y="2704782"/>
            <a:ext cx="5107300" cy="201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49"/>
              </a:lnSpc>
            </a:pPr>
            <a:r>
              <a:rPr lang="en-US" b="true" sz="3249" u="sng">
                <a:solidFill>
                  <a:srgbClr val="292C32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Key Findings:</a:t>
            </a:r>
          </a:p>
          <a:p>
            <a:pPr algn="just" marL="593726" indent="-296863" lvl="1">
              <a:lnSpc>
                <a:spcPts val="3850"/>
              </a:lnSpc>
              <a:buFont typeface="Arial"/>
              <a:buChar char="•"/>
            </a:pPr>
            <a:r>
              <a:rPr lang="en-US" b="true" sz="2750">
                <a:solidFill>
                  <a:srgbClr val="54545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Transfer learning enhances performance on limited medical datasets. [2]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38817" y="5287782"/>
            <a:ext cx="2384756" cy="238475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144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7"/>
                </a:lnSpc>
              </a:pPr>
              <a:r>
                <a:rPr lang="en-US" sz="1937" b="true">
                  <a:solidFill>
                    <a:srgbClr val="FFFFFF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Deep learning</a:t>
              </a:r>
            </a:p>
            <a:p>
              <a:pPr algn="ctr">
                <a:lnSpc>
                  <a:spcPts val="2437"/>
                </a:lnSpc>
              </a:pPr>
              <a:r>
                <a:rPr lang="en-US" sz="1937" b="true">
                  <a:solidFill>
                    <a:srgbClr val="FFFFFF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&gt;&gt;&gt;</a:t>
              </a:r>
            </a:p>
            <a:p>
              <a:pPr algn="ctr">
                <a:lnSpc>
                  <a:spcPts val="2437"/>
                </a:lnSpc>
              </a:pPr>
              <a:r>
                <a:rPr lang="en-US" sz="1937" b="true">
                  <a:solidFill>
                    <a:srgbClr val="FFFFFF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traditional ml approaches</a:t>
              </a:r>
            </a:p>
            <a:p>
              <a:pPr algn="ctr">
                <a:lnSpc>
                  <a:spcPts val="2437"/>
                </a:lnSpc>
              </a:pPr>
              <a:r>
                <a:rPr lang="en-US" b="true" sz="1937">
                  <a:solidFill>
                    <a:srgbClr val="FFFFFF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[1]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30165" y="5287782"/>
            <a:ext cx="2384756" cy="238475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144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7"/>
                </a:lnSpc>
              </a:pPr>
              <a:r>
                <a:rPr lang="en-US" sz="1937" b="true">
                  <a:solidFill>
                    <a:srgbClr val="FFFFFF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Accuracy range:</a:t>
              </a:r>
            </a:p>
            <a:p>
              <a:pPr algn="ctr">
                <a:lnSpc>
                  <a:spcPts val="2437"/>
                </a:lnSpc>
              </a:pPr>
              <a:r>
                <a:rPr lang="en-US" sz="1937" b="true">
                  <a:solidFill>
                    <a:srgbClr val="FFFFFF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85%-92%</a:t>
              </a:r>
            </a:p>
            <a:p>
              <a:pPr algn="ctr">
                <a:lnSpc>
                  <a:spcPts val="2437"/>
                </a:lnSpc>
              </a:pPr>
              <a:r>
                <a:rPr lang="en-US" b="true" sz="1937">
                  <a:solidFill>
                    <a:srgbClr val="FFFFFF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[1],[2]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92247" y="8195006"/>
            <a:ext cx="16230600" cy="1225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97"/>
              </a:lnSpc>
            </a:pPr>
            <a:r>
              <a:rPr lang="en-US" sz="2250">
                <a:solidFill>
                  <a:srgbClr val="73737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References:</a:t>
            </a:r>
          </a:p>
          <a:p>
            <a:pPr algn="just">
              <a:lnSpc>
                <a:spcPts val="1597"/>
              </a:lnSpc>
            </a:pPr>
          </a:p>
          <a:p>
            <a:pPr algn="just">
              <a:lnSpc>
                <a:spcPts val="1597"/>
              </a:lnSpc>
            </a:pPr>
            <a:r>
              <a:rPr lang="en-US" sz="2250">
                <a:solidFill>
                  <a:srgbClr val="737373"/>
                </a:solidFill>
                <a:latin typeface="IBM Plex Sans"/>
                <a:ea typeface="IBM Plex Sans"/>
                <a:cs typeface="IBM Plex Sans"/>
                <a:sym typeface="IBM Plex Sans"/>
              </a:rPr>
              <a:t>[1] </a:t>
            </a:r>
            <a:r>
              <a:rPr lang="en-US" sz="2250">
                <a:solidFill>
                  <a:srgbClr val="737373"/>
                </a:solidFill>
                <a:latin typeface="IBM Plex Sans"/>
                <a:ea typeface="IBM Plex Sans"/>
                <a:cs typeface="IBM Plex Sans"/>
                <a:sym typeface="IBM Plex Sans"/>
              </a:rPr>
              <a:t>An</a:t>
            </a:r>
            <a:r>
              <a:rPr lang="en-US" sz="2250">
                <a:solidFill>
                  <a:srgbClr val="737373"/>
                </a:solidFill>
                <a:latin typeface="IBM Plex Sans"/>
                <a:ea typeface="IBM Plex Sans"/>
                <a:cs typeface="IBM Plex Sans"/>
                <a:sym typeface="IBM Plex Sans"/>
              </a:rPr>
              <a:t> Explain</a:t>
            </a:r>
            <a:r>
              <a:rPr lang="en-US" sz="2250">
                <a:solidFill>
                  <a:srgbClr val="737373"/>
                </a:solidFill>
                <a:latin typeface="IBM Plex Sans"/>
                <a:ea typeface="IBM Plex Sans"/>
                <a:cs typeface="IBM Plex Sans"/>
                <a:sym typeface="IBM Plex Sans"/>
              </a:rPr>
              <a:t>able Deep Learning Model to Predict Dental Caries Using Panoramic Radiograph Images, 2023.</a:t>
            </a:r>
          </a:p>
          <a:p>
            <a:pPr algn="just">
              <a:lnSpc>
                <a:spcPts val="1597"/>
              </a:lnSpc>
            </a:pPr>
          </a:p>
          <a:p>
            <a:pPr algn="just">
              <a:lnSpc>
                <a:spcPts val="1597"/>
              </a:lnSpc>
            </a:pPr>
            <a:r>
              <a:rPr lang="en-US" sz="2250">
                <a:solidFill>
                  <a:srgbClr val="737373"/>
                </a:solidFill>
                <a:latin typeface="IBM Plex Sans"/>
                <a:ea typeface="IBM Plex Sans"/>
                <a:cs typeface="IBM Plex Sans"/>
                <a:sym typeface="IBM Plex Sans"/>
              </a:rPr>
              <a:t>[2] H. Geetha et al., “Dental Caries Detection in Digital Radiographs Using Deep Learning Models,” IEEE Access, vol. 8, 2020.</a:t>
            </a:r>
          </a:p>
          <a:p>
            <a:pPr algn="just">
              <a:lnSpc>
                <a:spcPts val="159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321032" y="2799080"/>
            <a:ext cx="4953987" cy="3943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2"/>
              </a:lnSpc>
            </a:pPr>
            <a:r>
              <a:rPr lang="en-US" b="true" sz="3249" u="sng">
                <a:solidFill>
                  <a:srgbClr val="292C32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Research Gap:</a:t>
            </a:r>
          </a:p>
          <a:p>
            <a:pPr algn="just" marL="593726" indent="-296863" lvl="1">
              <a:lnSpc>
                <a:spcPts val="3437"/>
              </a:lnSpc>
              <a:buFont typeface="Arial"/>
              <a:buChar char="•"/>
            </a:pPr>
            <a:r>
              <a:rPr lang="en-US" b="true" sz="2750">
                <a:solidFill>
                  <a:srgbClr val="54545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Ne</a:t>
            </a:r>
            <a:r>
              <a:rPr lang="en-US" b="true" sz="2750">
                <a:solidFill>
                  <a:srgbClr val="54545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ed for improved accuracy &amp;  generalization.</a:t>
            </a:r>
          </a:p>
          <a:p>
            <a:pPr algn="just" marL="593726" indent="-296863" lvl="1">
              <a:lnSpc>
                <a:spcPts val="3437"/>
              </a:lnSpc>
              <a:buFont typeface="Arial"/>
              <a:buChar char="•"/>
            </a:pPr>
            <a:r>
              <a:rPr lang="en-US" b="true" sz="2750">
                <a:solidFill>
                  <a:srgbClr val="54545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Limit</a:t>
            </a:r>
            <a:r>
              <a:rPr lang="en-US" b="true" sz="2750">
                <a:solidFill>
                  <a:srgbClr val="54545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ed optimization of balanced dataset training.</a:t>
            </a:r>
          </a:p>
          <a:p>
            <a:pPr algn="just" marL="593726" indent="-296863" lvl="1">
              <a:lnSpc>
                <a:spcPts val="3437"/>
              </a:lnSpc>
              <a:buFont typeface="Arial"/>
              <a:buChar char="•"/>
            </a:pPr>
            <a:r>
              <a:rPr lang="en-US" b="true" sz="2750">
                <a:solidFill>
                  <a:srgbClr val="54545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Scope for enhancing interpretability and performance.</a:t>
            </a:r>
          </a:p>
          <a:p>
            <a:pPr algn="just">
              <a:lnSpc>
                <a:spcPts val="3437"/>
              </a:lnSpc>
            </a:pPr>
          </a:p>
        </p:txBody>
      </p:sp>
      <p:sp>
        <p:nvSpPr>
          <p:cNvPr name="AutoShape 19" id="19"/>
          <p:cNvSpPr/>
          <p:nvPr/>
        </p:nvSpPr>
        <p:spPr>
          <a:xfrm>
            <a:off x="6434503" y="2627076"/>
            <a:ext cx="57150" cy="5453631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2092432" y="2576050"/>
            <a:ext cx="57150" cy="5504656"/>
          </a:xfrm>
          <a:prstGeom prst="line">
            <a:avLst/>
          </a:prstGeom>
          <a:ln cap="flat" w="38100">
            <a:solidFill>
              <a:srgbClr val="000000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98B1E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06572" y="1175563"/>
            <a:ext cx="7830564" cy="86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714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Proposed Methodology: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65423" y="237373"/>
            <a:ext cx="4563549" cy="4114800"/>
          </a:xfrm>
          <a:custGeom>
            <a:avLst/>
            <a:gdLst/>
            <a:ahLst/>
            <a:cxnLst/>
            <a:rect r="r" b="b" t="t" l="l"/>
            <a:pathLst>
              <a:path h="4114800" w="4563549">
                <a:moveTo>
                  <a:pt x="0" y="0"/>
                </a:moveTo>
                <a:lnTo>
                  <a:pt x="4563549" y="0"/>
                </a:lnTo>
                <a:lnTo>
                  <a:pt x="45635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3408595" y="5985206"/>
            <a:ext cx="4563549" cy="4114800"/>
          </a:xfrm>
          <a:custGeom>
            <a:avLst/>
            <a:gdLst/>
            <a:ahLst/>
            <a:cxnLst/>
            <a:rect r="r" b="b" t="t" l="l"/>
            <a:pathLst>
              <a:path h="4114800" w="4563549">
                <a:moveTo>
                  <a:pt x="0" y="0"/>
                </a:moveTo>
                <a:lnTo>
                  <a:pt x="4563549" y="0"/>
                </a:lnTo>
                <a:lnTo>
                  <a:pt x="45635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6572" y="2294773"/>
            <a:ext cx="11182651" cy="5677699"/>
          </a:xfrm>
          <a:custGeom>
            <a:avLst/>
            <a:gdLst/>
            <a:ahLst/>
            <a:cxnLst/>
            <a:rect r="r" b="b" t="t" l="l"/>
            <a:pathLst>
              <a:path h="5677699" w="11182651">
                <a:moveTo>
                  <a:pt x="0" y="0"/>
                </a:moveTo>
                <a:lnTo>
                  <a:pt x="11182651" y="0"/>
                </a:lnTo>
                <a:lnTo>
                  <a:pt x="11182651" y="5677698"/>
                </a:lnTo>
                <a:lnTo>
                  <a:pt x="0" y="56776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6293" r="0" b="-4066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25270" y="2294773"/>
            <a:ext cx="3934030" cy="7220702"/>
          </a:xfrm>
          <a:custGeom>
            <a:avLst/>
            <a:gdLst/>
            <a:ahLst/>
            <a:cxnLst/>
            <a:rect r="r" b="b" t="t" l="l"/>
            <a:pathLst>
              <a:path h="7220702" w="3934030">
                <a:moveTo>
                  <a:pt x="0" y="0"/>
                </a:moveTo>
                <a:lnTo>
                  <a:pt x="3934030" y="0"/>
                </a:lnTo>
                <a:lnTo>
                  <a:pt x="3934030" y="7220702"/>
                </a:lnTo>
                <a:lnTo>
                  <a:pt x="0" y="72207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4459" t="-8211" r="-66190" b="-17452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306572" y="8250174"/>
            <a:ext cx="11182651" cy="1332809"/>
            <a:chOff x="0" y="0"/>
            <a:chExt cx="2300957" cy="274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00957" cy="274241"/>
            </a:xfrm>
            <a:custGeom>
              <a:avLst/>
              <a:gdLst/>
              <a:ahLst/>
              <a:cxnLst/>
              <a:rect r="r" b="b" t="t" l="l"/>
              <a:pathLst>
                <a:path h="274241" w="2300957">
                  <a:moveTo>
                    <a:pt x="0" y="0"/>
                  </a:moveTo>
                  <a:lnTo>
                    <a:pt x="2300957" y="0"/>
                  </a:lnTo>
                  <a:lnTo>
                    <a:pt x="2300957" y="274241"/>
                  </a:lnTo>
                  <a:lnTo>
                    <a:pt x="0" y="27424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300957" cy="293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6"/>
                </a:lnSpc>
              </a:pPr>
              <a:r>
                <a:rPr lang="en-US" b="true" sz="2437" u="sng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Tools &amp; Technologies: </a:t>
              </a:r>
            </a:p>
            <a:p>
              <a:pPr algn="ctr">
                <a:lnSpc>
                  <a:spcPts val="3066"/>
                </a:lnSpc>
              </a:pPr>
              <a:r>
                <a:rPr lang="en-US" sz="2437" b="true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Python, TensorFlow / Keras, OpenCV, Google Colab, Matplotlib.</a:t>
              </a:r>
            </a:p>
            <a:p>
              <a:pPr algn="ctr">
                <a:lnSpc>
                  <a:spcPts val="3066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98B1E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06572" y="1318438"/>
            <a:ext cx="6857119" cy="86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714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Expected Outcomes: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64950" y="2742300"/>
            <a:ext cx="16331787" cy="5957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6"/>
              </a:lnSpc>
            </a:pPr>
          </a:p>
          <a:p>
            <a:pPr algn="l">
              <a:lnSpc>
                <a:spcPts val="3835"/>
              </a:lnSpc>
            </a:pPr>
            <a:r>
              <a:rPr lang="en-US" sz="3068" u="sng" b="true">
                <a:solidFill>
                  <a:srgbClr val="54545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3068" u="sng" b="true">
                <a:solidFill>
                  <a:srgbClr val="54545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Product / Research Output:</a:t>
            </a:r>
          </a:p>
          <a:p>
            <a:pPr algn="l" marL="662398" indent="-331199" lvl="1">
              <a:lnSpc>
                <a:spcPts val="3835"/>
              </a:lnSpc>
              <a:buFont typeface="Arial"/>
              <a:buChar char="•"/>
            </a:pPr>
            <a:r>
              <a:rPr lang="en-US" b="true" sz="3068">
                <a:solidFill>
                  <a:srgbClr val="54545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AI Caries Detection Model</a:t>
            </a:r>
          </a:p>
          <a:p>
            <a:pPr algn="l" marL="662398" indent="-331199" lvl="1">
              <a:lnSpc>
                <a:spcPts val="3835"/>
              </a:lnSpc>
              <a:buFont typeface="Arial"/>
              <a:buChar char="•"/>
            </a:pPr>
            <a:r>
              <a:rPr lang="en-US" b="true" sz="3068">
                <a:solidFill>
                  <a:srgbClr val="54545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ResNet50 + Grad-CAM</a:t>
            </a:r>
          </a:p>
          <a:p>
            <a:pPr algn="l" marL="662398" indent="-331199" lvl="1">
              <a:lnSpc>
                <a:spcPts val="3835"/>
              </a:lnSpc>
              <a:buFont typeface="Arial"/>
              <a:buChar char="•"/>
            </a:pPr>
            <a:r>
              <a:rPr lang="en-US" b="true" sz="3068">
                <a:solidFill>
                  <a:srgbClr val="54545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93% Accuracy</a:t>
            </a:r>
          </a:p>
          <a:p>
            <a:pPr algn="l" marL="662398" indent="-331199" lvl="1">
              <a:lnSpc>
                <a:spcPts val="3835"/>
              </a:lnSpc>
              <a:buFont typeface="Arial"/>
              <a:buChar char="•"/>
            </a:pPr>
            <a:r>
              <a:rPr lang="en-US" b="true" sz="3068">
                <a:solidFill>
                  <a:srgbClr val="54545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Binary Classification System</a:t>
            </a:r>
          </a:p>
          <a:p>
            <a:pPr algn="l" marL="662398" indent="-331199" lvl="1">
              <a:lnSpc>
                <a:spcPts val="3835"/>
              </a:lnSpc>
              <a:buFont typeface="Arial"/>
              <a:buChar char="•"/>
            </a:pPr>
            <a:r>
              <a:rPr lang="en-US" b="true" sz="3068">
                <a:solidFill>
                  <a:srgbClr val="54545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Explainable Prediction Output</a:t>
            </a:r>
          </a:p>
          <a:p>
            <a:pPr algn="l">
              <a:lnSpc>
                <a:spcPts val="3835"/>
              </a:lnSpc>
            </a:pPr>
          </a:p>
          <a:p>
            <a:pPr algn="l">
              <a:lnSpc>
                <a:spcPts val="3835"/>
              </a:lnSpc>
            </a:pPr>
            <a:r>
              <a:rPr lang="en-US" sz="3068" u="sng" b="true">
                <a:solidFill>
                  <a:srgbClr val="54545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3068" u="sng" b="true">
                <a:solidFill>
                  <a:srgbClr val="54545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Publication Plans:</a:t>
            </a:r>
          </a:p>
          <a:p>
            <a:pPr algn="l" marL="662398" indent="-331199" lvl="1">
              <a:lnSpc>
                <a:spcPts val="3835"/>
              </a:lnSpc>
              <a:buFont typeface="Arial"/>
              <a:buChar char="•"/>
            </a:pPr>
            <a:r>
              <a:rPr lang="en-US" b="true" sz="3068">
                <a:solidFill>
                  <a:srgbClr val="54545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IEEE Conference / Journal Submission</a:t>
            </a:r>
          </a:p>
          <a:p>
            <a:pPr algn="l" marL="662398" indent="-331199" lvl="1">
              <a:lnSpc>
                <a:spcPts val="3835"/>
              </a:lnSpc>
              <a:buFont typeface="Arial"/>
              <a:buChar char="•"/>
            </a:pPr>
            <a:r>
              <a:rPr lang="en-US" b="true" sz="3068">
                <a:solidFill>
                  <a:srgbClr val="54545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Book chapters </a:t>
            </a:r>
          </a:p>
          <a:p>
            <a:pPr algn="l">
              <a:lnSpc>
                <a:spcPts val="4686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65423" y="237373"/>
            <a:ext cx="4563549" cy="4114800"/>
          </a:xfrm>
          <a:custGeom>
            <a:avLst/>
            <a:gdLst/>
            <a:ahLst/>
            <a:cxnLst/>
            <a:rect r="r" b="b" t="t" l="l"/>
            <a:pathLst>
              <a:path h="4114800" w="4563549">
                <a:moveTo>
                  <a:pt x="0" y="0"/>
                </a:moveTo>
                <a:lnTo>
                  <a:pt x="4563549" y="0"/>
                </a:lnTo>
                <a:lnTo>
                  <a:pt x="45635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3408595" y="5985206"/>
            <a:ext cx="4563549" cy="4114800"/>
          </a:xfrm>
          <a:custGeom>
            <a:avLst/>
            <a:gdLst/>
            <a:ahLst/>
            <a:cxnLst/>
            <a:rect r="r" b="b" t="t" l="l"/>
            <a:pathLst>
              <a:path h="4114800" w="4563549">
                <a:moveTo>
                  <a:pt x="0" y="0"/>
                </a:moveTo>
                <a:lnTo>
                  <a:pt x="4563549" y="0"/>
                </a:lnTo>
                <a:lnTo>
                  <a:pt x="45635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56122" y="2978374"/>
            <a:ext cx="2747598" cy="2747598"/>
          </a:xfrm>
          <a:custGeom>
            <a:avLst/>
            <a:gdLst/>
            <a:ahLst/>
            <a:cxnLst/>
            <a:rect r="r" b="b" t="t" l="l"/>
            <a:pathLst>
              <a:path h="2747598" w="2747598">
                <a:moveTo>
                  <a:pt x="0" y="0"/>
                </a:moveTo>
                <a:lnTo>
                  <a:pt x="2747598" y="0"/>
                </a:lnTo>
                <a:lnTo>
                  <a:pt x="2747598" y="2747598"/>
                </a:lnTo>
                <a:lnTo>
                  <a:pt x="0" y="27475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98B1E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85875" y="1176928"/>
            <a:ext cx="3383139" cy="74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3"/>
              </a:lnSpc>
            </a:pPr>
            <a:r>
              <a:rPr lang="en-US" sz="4837" b="true">
                <a:solidFill>
                  <a:srgbClr val="0714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Conclusion: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44204" y="2146549"/>
            <a:ext cx="8225407" cy="7524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6"/>
              </a:lnSpc>
            </a:pPr>
            <a:r>
              <a:rPr lang="en-US" b="true" sz="3651" u="sng">
                <a:solidFill>
                  <a:srgbClr val="0714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Summary of Proposed Work:</a:t>
            </a:r>
          </a:p>
          <a:p>
            <a:pPr algn="l" marL="560191" indent="-280095" lvl="1">
              <a:lnSpc>
                <a:spcPts val="3798"/>
              </a:lnSpc>
              <a:buFont typeface="Arial"/>
              <a:buChar char="•"/>
            </a:pP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ResNet50-based Caries Detection</a:t>
            </a:r>
          </a:p>
          <a:p>
            <a:pPr algn="l" marL="560191" indent="-280095" lvl="1">
              <a:lnSpc>
                <a:spcPts val="3798"/>
              </a:lnSpc>
              <a:buFont typeface="Arial"/>
              <a:buChar char="•"/>
            </a:pP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Transfer Learning</a:t>
            </a:r>
          </a:p>
          <a:p>
            <a:pPr algn="l" marL="560191" indent="-280095" lvl="1">
              <a:lnSpc>
                <a:spcPts val="3798"/>
              </a:lnSpc>
              <a:buFont typeface="Arial"/>
              <a:buChar char="•"/>
            </a:pP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Balanced Dataset Training</a:t>
            </a:r>
          </a:p>
          <a:p>
            <a:pPr algn="l" marL="560191" indent="-280095" lvl="1">
              <a:lnSpc>
                <a:spcPts val="3798"/>
              </a:lnSpc>
              <a:buFont typeface="Arial"/>
              <a:buChar char="•"/>
            </a:pP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93% Accuracy Achieved</a:t>
            </a:r>
          </a:p>
          <a:p>
            <a:pPr algn="l" marL="560191" indent="-280095" lvl="1">
              <a:lnSpc>
                <a:spcPts val="3798"/>
              </a:lnSpc>
              <a:buFont typeface="Arial"/>
              <a:buChar char="•"/>
            </a:pP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Grad-CAM Explainability</a:t>
            </a:r>
          </a:p>
          <a:p>
            <a:pPr algn="l" marL="560191" indent="-280095" lvl="1">
              <a:lnSpc>
                <a:spcPts val="3798"/>
              </a:lnSpc>
              <a:buFont typeface="Arial"/>
              <a:buChar char="•"/>
            </a:pP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Automated Binary Classification</a:t>
            </a:r>
          </a:p>
          <a:p>
            <a:pPr algn="l">
              <a:lnSpc>
                <a:spcPts val="3798"/>
              </a:lnSpc>
            </a:pPr>
          </a:p>
          <a:p>
            <a:pPr algn="l">
              <a:lnSpc>
                <a:spcPts val="5346"/>
              </a:lnSpc>
            </a:pPr>
            <a:r>
              <a:rPr lang="en-US" b="true" sz="3651" u="sng">
                <a:solidFill>
                  <a:srgbClr val="0714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Future Scope:</a:t>
            </a:r>
          </a:p>
          <a:p>
            <a:pPr algn="l" marL="560191" indent="-280095" lvl="1">
              <a:lnSpc>
                <a:spcPts val="3798"/>
              </a:lnSpc>
              <a:buFont typeface="Arial"/>
              <a:buChar char="•"/>
            </a:pP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Larger Multi-center Dataset</a:t>
            </a:r>
          </a:p>
          <a:p>
            <a:pPr algn="l" marL="560191" indent="-280095" lvl="1">
              <a:lnSpc>
                <a:spcPts val="3798"/>
              </a:lnSpc>
              <a:buFont typeface="Arial"/>
              <a:buChar char="•"/>
            </a:pP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Real-time Clinical Integration</a:t>
            </a:r>
          </a:p>
          <a:p>
            <a:pPr algn="l" marL="560191" indent="-280095" lvl="1">
              <a:lnSpc>
                <a:spcPts val="3798"/>
              </a:lnSpc>
              <a:buFont typeface="Arial"/>
              <a:buChar char="•"/>
            </a:pP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Mobile / Web Deployment</a:t>
            </a:r>
          </a:p>
          <a:p>
            <a:pPr algn="l" marL="560191" indent="-280095" lvl="1">
              <a:lnSpc>
                <a:spcPts val="3798"/>
              </a:lnSpc>
              <a:buFont typeface="Arial"/>
              <a:buChar char="•"/>
            </a:pP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Multi-class Lesion Detection</a:t>
            </a:r>
          </a:p>
          <a:p>
            <a:pPr algn="l" marL="560191" indent="-280095" lvl="1">
              <a:lnSpc>
                <a:spcPts val="3798"/>
              </a:lnSpc>
              <a:buFont typeface="Arial"/>
              <a:buChar char="•"/>
            </a:pP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Improved Generalization</a:t>
            </a:r>
          </a:p>
          <a:p>
            <a:pPr algn="l">
              <a:lnSpc>
                <a:spcPts val="379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276350" y="2253701"/>
            <a:ext cx="7110663" cy="7110663"/>
            <a:chOff x="0" y="0"/>
            <a:chExt cx="6291859" cy="629185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6291834" cy="6291834"/>
            </a:xfrm>
            <a:custGeom>
              <a:avLst/>
              <a:gdLst/>
              <a:ahLst/>
              <a:cxnLst/>
              <a:rect r="r" b="b" t="t" l="l"/>
              <a:pathLst>
                <a:path h="6291834" w="6291834">
                  <a:moveTo>
                    <a:pt x="0" y="0"/>
                  </a:moveTo>
                  <a:lnTo>
                    <a:pt x="6291834" y="0"/>
                  </a:lnTo>
                  <a:lnTo>
                    <a:pt x="6291834" y="6291834"/>
                  </a:lnTo>
                  <a:lnTo>
                    <a:pt x="0" y="6291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42281" y="336580"/>
            <a:ext cx="4563549" cy="4114800"/>
          </a:xfrm>
          <a:custGeom>
            <a:avLst/>
            <a:gdLst/>
            <a:ahLst/>
            <a:cxnLst/>
            <a:rect r="r" b="b" t="t" l="l"/>
            <a:pathLst>
              <a:path h="4114800" w="4563549">
                <a:moveTo>
                  <a:pt x="0" y="0"/>
                </a:moveTo>
                <a:lnTo>
                  <a:pt x="4563549" y="0"/>
                </a:lnTo>
                <a:lnTo>
                  <a:pt x="45635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3418120" y="5985206"/>
            <a:ext cx="4563549" cy="4114800"/>
          </a:xfrm>
          <a:custGeom>
            <a:avLst/>
            <a:gdLst/>
            <a:ahLst/>
            <a:cxnLst/>
            <a:rect r="r" b="b" t="t" l="l"/>
            <a:pathLst>
              <a:path h="4114800" w="4563549">
                <a:moveTo>
                  <a:pt x="0" y="0"/>
                </a:moveTo>
                <a:lnTo>
                  <a:pt x="4563549" y="0"/>
                </a:lnTo>
                <a:lnTo>
                  <a:pt x="45635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98B1E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176928"/>
            <a:ext cx="3461191" cy="74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3"/>
              </a:lnSpc>
            </a:pPr>
            <a:r>
              <a:rPr lang="en-US" sz="4837" b="true">
                <a:solidFill>
                  <a:srgbClr val="07144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References: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8529" y="2151631"/>
            <a:ext cx="15940771" cy="6374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6"/>
              </a:lnSpc>
            </a:pPr>
          </a:p>
          <a:p>
            <a:pPr algn="l" marL="560191" indent="-280095" lvl="1">
              <a:lnSpc>
                <a:spcPts val="3798"/>
              </a:lnSpc>
              <a:buFont typeface="Arial"/>
              <a:buChar char="•"/>
            </a:pP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[1] An Explainable D</a:t>
            </a: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eep Learning Model to Predict Dental Caries Using Panoramic Radiograph Images, 2023.</a:t>
            </a:r>
          </a:p>
          <a:p>
            <a:pPr algn="l" marL="560191" indent="-280095" lvl="1">
              <a:lnSpc>
                <a:spcPts val="3798"/>
              </a:lnSpc>
              <a:buFont typeface="Arial"/>
              <a:buChar char="•"/>
            </a:pP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[2] K. He, X. Zhang, S. Ren, and J. Sun, “Deep Residual Learning for Image Recognition,” in Proceedings of the IEEE Conference on Computer Vision and Pattern Recognition (CVPR), 2016.</a:t>
            </a:r>
          </a:p>
          <a:p>
            <a:pPr algn="l" marL="560191" indent="-280095" lvl="1">
              <a:lnSpc>
                <a:spcPts val="3798"/>
              </a:lnSpc>
              <a:buFont typeface="Arial"/>
              <a:buChar char="•"/>
            </a:pP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[3] R. R. Selvaraju et al., “Grad-CAM: Visual Explanations from Deep Networks via Gradient-Based Localization,” in P</a:t>
            </a:r>
            <a:r>
              <a:rPr lang="en-US" sz="2594" u="none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r</a:t>
            </a: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oc</a:t>
            </a:r>
            <a:r>
              <a:rPr lang="en-US" sz="2594" u="none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edings</a:t>
            </a:r>
            <a:r>
              <a:rPr lang="en-US" sz="2594" u="none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 o</a:t>
            </a: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f th</a:t>
            </a:r>
            <a:r>
              <a:rPr lang="en-US" sz="2594" u="none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 IEEE Int</a:t>
            </a: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ernational Conference on Computer Vision (ICCV), 2017.</a:t>
            </a:r>
          </a:p>
          <a:p>
            <a:pPr algn="l" marL="560191" indent="-280095" lvl="1">
              <a:lnSpc>
                <a:spcPts val="3798"/>
              </a:lnSpc>
              <a:buFont typeface="Arial"/>
              <a:buChar char="•"/>
            </a:pP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[4] H. Geetha et al., “Dental Caries Detection in Digital Radiographs Using Deep Learning Models,” IEEE Access, vol. 8, 2020.</a:t>
            </a:r>
          </a:p>
          <a:p>
            <a:pPr algn="l" marL="560191" indent="-280095" lvl="1">
              <a:lnSpc>
                <a:spcPts val="3798"/>
              </a:lnSpc>
              <a:buFont typeface="Arial"/>
              <a:buChar char="•"/>
            </a:pP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[5] M. Lee et al., “Deep Convolutional Neural Networks for Detection of Dental Caries in Panoramic Radiographs,” Scientific Reports, 2018.</a:t>
            </a:r>
          </a:p>
          <a:p>
            <a:pPr algn="l" marL="560191" indent="-280095" lvl="1">
              <a:lnSpc>
                <a:spcPts val="3798"/>
              </a:lnSpc>
              <a:buFont typeface="Arial"/>
              <a:buChar char="•"/>
            </a:pPr>
            <a:r>
              <a:rPr lang="en-US" sz="2594">
                <a:solidFill>
                  <a:srgbClr val="484B51"/>
                </a:solidFill>
                <a:latin typeface="IBM Plex Sans"/>
                <a:ea typeface="IBM Plex Sans"/>
                <a:cs typeface="IBM Plex Sans"/>
                <a:sym typeface="IBM Plex Sans"/>
              </a:rPr>
              <a:t>Other online articles.</a:t>
            </a:r>
          </a:p>
          <a:p>
            <a:pPr algn="l">
              <a:lnSpc>
                <a:spcPts val="379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385996" y="318418"/>
            <a:ext cx="17586148" cy="9781588"/>
            <a:chOff x="0" y="0"/>
            <a:chExt cx="23448197" cy="130421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84732" cy="5486400"/>
            </a:xfrm>
            <a:custGeom>
              <a:avLst/>
              <a:gdLst/>
              <a:ahLst/>
              <a:cxnLst/>
              <a:rect r="r" b="b" t="t" l="l"/>
              <a:pathLst>
                <a:path h="5486400" w="6084732">
                  <a:moveTo>
                    <a:pt x="0" y="0"/>
                  </a:moveTo>
                  <a:lnTo>
                    <a:pt x="6084732" y="0"/>
                  </a:lnTo>
                  <a:lnTo>
                    <a:pt x="6084732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10800000">
              <a:off x="17363465" y="7555718"/>
              <a:ext cx="6084732" cy="5486400"/>
            </a:xfrm>
            <a:custGeom>
              <a:avLst/>
              <a:gdLst/>
              <a:ahLst/>
              <a:cxnLst/>
              <a:rect r="r" b="b" t="t" l="l"/>
              <a:pathLst>
                <a:path h="5486400" w="6084732">
                  <a:moveTo>
                    <a:pt x="0" y="0"/>
                  </a:moveTo>
                  <a:lnTo>
                    <a:pt x="6084732" y="0"/>
                  </a:lnTo>
                  <a:lnTo>
                    <a:pt x="6084732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DAHCiGOccZQ</dc:identifier>
  <dcterms:modified xsi:type="dcterms:W3CDTF">2011-08-01T06:04:30Z</dcterms:modified>
  <cp:revision>1</cp:revision>
  <dc:title>Optimized-Machine-Learning-Framework-for-Dental-Caries-Detection.pptx</dc:title>
</cp:coreProperties>
</file>